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5" r:id="rId10"/>
    <p:sldId id="262" r:id="rId11"/>
    <p:sldId id="267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gHo Oh/President/Japan R&amp;D Lab(changho.oh@lge.com)" initials="CORL" lastIdx="1" clrIdx="0">
    <p:extLst>
      <p:ext uri="{19B8F6BF-5375-455C-9EA6-DF929625EA0E}">
        <p15:presenceInfo xmlns:p15="http://schemas.microsoft.com/office/powerpoint/2012/main" userId="S-1-5-21-2543426832-1914326140-3112152631-27196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0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3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81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2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43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60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4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69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98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33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38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66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86F7C-108D-4FD0-94D5-F5ECCED5D403}" type="datetimeFigureOut">
              <a:rPr lang="ko-KR" altLang="en-US" smtClean="0"/>
              <a:t>2024-09-04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17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dvancedwebranking.com/seo/html-stud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220.71.20\Common\Informal%20Group\codingClub\0521\html-cheat-sheet.png" TargetMode="External"/><Relationship Id="rId2" Type="http://schemas.openxmlformats.org/officeDocument/2006/relationships/hyperlink" Target="file:///\\10.220.71.20\Common\Informal%20Group\codingClub\0521\HTMLCheatSheet.webp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hyperlink" Target="file:///\\10.220.71.20\LetsR&amp;D\LetsR&amp;D.html" TargetMode="External"/><Relationship Id="rId7" Type="http://schemas.openxmlformats.org/officeDocument/2006/relationships/image" Target="../media/image2.jpg"/><Relationship Id="rId2" Type="http://schemas.openxmlformats.org/officeDocument/2006/relationships/hyperlink" Target="https://info.cern.ch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dingclub.lgjapanlab.com/" TargetMode="External"/><Relationship Id="rId5" Type="http://schemas.openxmlformats.org/officeDocument/2006/relationships/hyperlink" Target="https://navi.onamae.com/" TargetMode="External"/><Relationship Id="rId4" Type="http://schemas.openxmlformats.org/officeDocument/2006/relationships/hyperlink" Target="https://www.sakura.ad.j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file:///\\10.220.71.20\Common\Informal%20Group\codingClub\0604\wsu-css-cheat-sheet-gdocs.pdf" TargetMode="External"/><Relationship Id="rId3" Type="http://schemas.openxmlformats.org/officeDocument/2006/relationships/image" Target="../media/image6.jpg"/><Relationship Id="rId7" Type="http://schemas.openxmlformats.org/officeDocument/2006/relationships/hyperlink" Target="file:///\\10.220.71.20\Common\Informal%20Group\codingClub\0604\CSS-CHEAT-SHEET-p1-2019-update.png" TargetMode="External"/><Relationship Id="rId2" Type="http://schemas.openxmlformats.org/officeDocument/2006/relationships/hyperlink" Target="https://www.w3schools.com/cssref/css_selectors.php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\\10.220.71.20\Common\Informal%20Group\codingClub\0604\css-cheatsheet.webp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w3schools.com/html/html_blocks.asp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0FY8k916e0?si=S_RkL0h79LtDfvIj" TargetMode="External"/><Relationship Id="rId2" Type="http://schemas.openxmlformats.org/officeDocument/2006/relationships/hyperlink" Target="https://youtu.be/_ExoqS3s17Y?si=wVRLaJ6zV9-O8M6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5js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xy55VP3DSY?si=xjf5uNtLj3_bFmsC" TargetMode="External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uK6uExrg7Ww?si=R5wAo3Fod9U8LAv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2313" y="419723"/>
            <a:ext cx="733018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Code, Source, Language (Computer Language) 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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Application, App, Program, Webpage,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HTML: </a:t>
            </a: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HyperText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Markup Language (Public Domain)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TAG: &lt;&gt;&lt;/&gt;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&lt;h1&gt;Hello World&lt;/h1&gt;: HTML headings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2"/>
              </a:rPr>
              <a:t>https://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2"/>
              </a:rPr>
              <a:t>www.advancedwebranking.com/seo/html-study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&lt;p&gt;: HTML paragraph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br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&gt;: HTML line break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img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u="sng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src</a:t>
            </a:r>
            <a:r>
              <a:rPr lang="en-US" altLang="ko-KR" sz="1400" u="sng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=“coding.jpg”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u="sng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width=“500px”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&gt;: HTML image</a:t>
            </a:r>
          </a:p>
          <a:p>
            <a:pPr lvl="1"/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        attribute</a:t>
            </a:r>
          </a:p>
          <a:p>
            <a:pPr lvl="1"/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&lt;div&gt;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parent tag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          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&lt;p&gt;Coding&lt;/p&gt;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child tag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&lt;/div&gt;</a:t>
            </a:r>
            <a:endParaRPr lang="en-US" altLang="ko-KR" sz="16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625" y="404735"/>
            <a:ext cx="5119367" cy="6033540"/>
          </a:xfrm>
          <a:prstGeom prst="rect">
            <a:avLst/>
          </a:prstGeom>
        </p:spPr>
      </p:pic>
      <p:sp>
        <p:nvSpPr>
          <p:cNvPr id="12" name="正方形/長方形 11"/>
          <p:cNvSpPr/>
          <p:nvPr/>
        </p:nvSpPr>
        <p:spPr>
          <a:xfrm>
            <a:off x="292313" y="5149042"/>
            <a:ext cx="2413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ul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 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Unorderd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list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li&gt;menu1&lt;/li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&lt;li&gt;menu2&lt;/li&gt; </a:t>
            </a:r>
            <a:endParaRPr lang="en-US" altLang="ko-KR" sz="1400" dirty="0" smtClean="0">
              <a:solidFill>
                <a:prstClr val="black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&lt;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li&gt;menu3&lt;/li&gt;           </a:t>
            </a:r>
            <a:endParaRPr lang="en-US" altLang="ko-KR" sz="1400" dirty="0" smtClean="0">
              <a:solidFill>
                <a:prstClr val="black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&lt;/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ul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  <a:endParaRPr lang="en-US" altLang="ko-KR" sz="1400" dirty="0">
              <a:solidFill>
                <a:prstClr val="black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2878116" y="5149042"/>
            <a:ext cx="2413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ol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 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O</a:t>
            </a:r>
            <a:r>
              <a:rPr lang="en-US" altLang="ko-KR" sz="1400" dirty="0" err="1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rderd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list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li&gt;menu1&lt;/li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&lt;li&gt;menu2&lt;/li&gt; </a:t>
            </a:r>
            <a:endParaRPr lang="en-US" altLang="ko-KR" sz="1400" dirty="0" smtClean="0">
              <a:solidFill>
                <a:prstClr val="black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&lt;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li&gt;menu3&lt;/li&gt;           </a:t>
            </a:r>
            <a:endParaRPr lang="en-US" altLang="ko-KR" sz="1400" dirty="0" smtClean="0">
              <a:solidFill>
                <a:prstClr val="black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&lt;/</a:t>
            </a:r>
            <a:r>
              <a:rPr lang="en-US" altLang="ko-KR" sz="1400" dirty="0" err="1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ol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  <a:endParaRPr lang="en-US" altLang="ko-KR" sz="1400" dirty="0">
              <a:solidFill>
                <a:prstClr val="black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5291528" y="2371877"/>
            <a:ext cx="241341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&lt;table&gt; 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Table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th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&lt;td&gt;item&lt;/td&gt; 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&lt;td&gt;data&lt;/td&gt;           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&lt;/</a:t>
            </a:r>
            <a:r>
              <a:rPr lang="en-US" altLang="ko-KR" sz="1400" dirty="0" err="1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th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  <a:endParaRPr lang="en-US" altLang="ko-KR" sz="1400" dirty="0">
              <a:solidFill>
                <a:prstClr val="black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&lt;td&gt;head&lt;/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td&gt; 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&lt;td&gt;100%&lt;/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td&gt;           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&lt;/</a:t>
            </a:r>
            <a:r>
              <a:rPr lang="en-US" altLang="ko-KR" sz="1400" dirty="0" err="1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&lt;td&gt;body&lt;/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td&gt; 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&lt;td&gt;99.1%&lt;/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td&gt;           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&lt;/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td&gt;title&lt;/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td&gt; 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&lt;td&gt;97.0%&lt;/</a:t>
            </a:r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td&gt;           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&lt;/</a:t>
            </a:r>
            <a:r>
              <a:rPr lang="en-US" altLang="ko-KR" sz="1400" dirty="0" err="1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pPr lvl="0"/>
            <a:r>
              <a:rPr lang="en-US" altLang="ko-KR" sz="1400" dirty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solidFill>
                  <a:prstClr val="black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&lt;/table&gt;</a:t>
            </a:r>
          </a:p>
        </p:txBody>
      </p:sp>
    </p:spTree>
    <p:extLst>
      <p:ext uri="{BB962C8B-B14F-4D97-AF65-F5344CB8AC3E}">
        <p14:creationId xmlns:p14="http://schemas.microsoft.com/office/powerpoint/2010/main" val="260080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299807" y="526211"/>
            <a:ext cx="8464631" cy="2717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99807" y="206750"/>
            <a:ext cx="1134754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HTML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		&lt;!DOCTYPE html&gt;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		&lt;html </a:t>
            </a: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lang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=“</a:t>
            </a: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ja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”&gt;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		&lt;head&gt;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        	    &lt;meta charset=“UTF-8”&gt;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   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	    &lt;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meta name="viewport" content="width=device-width, initial-scale=1.0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"&gt;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        	    &lt;title&gt;Coding Club&lt;/title&gt;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   	&lt;/head&gt;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   	&lt;body&gt;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           	     ~~~~~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   	&lt;/body&gt;   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      	&lt;/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html&gt;</a:t>
            </a:r>
          </a:p>
          <a:p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&lt;a </a:t>
            </a:r>
            <a:r>
              <a:rPr lang="en-US" altLang="ko-KR" sz="14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href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=“https://www.lgjlab.com”&gt;     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hyperlink,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anchor tag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LG Japan Lab Inc. Official Page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&lt;/a&gt;</a:t>
            </a: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video width=“800" height=“600"&gt;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&lt;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source </a:t>
            </a:r>
            <a:r>
              <a:rPr lang="en-US" altLang="ko-KR" sz="14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src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="https://youtu.be/tZooW6PritE?si=ZYizNcUvtpVv-7m9"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type="video/mp4"&gt;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&lt;/video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&gt;</a:t>
            </a: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&lt;</a:t>
            </a:r>
            <a:r>
              <a:rPr lang="en-US" altLang="ko-KR" sz="1400" dirty="0" err="1"/>
              <a:t>iframe</a:t>
            </a:r>
            <a:r>
              <a:rPr lang="en-US" altLang="ko-KR" sz="1400" dirty="0"/>
              <a:t> </a:t>
            </a:r>
            <a:r>
              <a:rPr lang="en-US" altLang="ko-KR" sz="1400" dirty="0" err="1"/>
              <a:t>src</a:t>
            </a:r>
            <a:r>
              <a:rPr lang="en-US" altLang="ko-KR" sz="1400" dirty="0" smtClean="0"/>
              <a:t>="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https://youtu.be/tZooW6PritE?si=ZYizNcUvtpVv-7m9 </a:t>
            </a:r>
            <a:r>
              <a:rPr lang="en-US" altLang="ko-KR" sz="1400" dirty="0" smtClean="0"/>
              <a:t>"</a:t>
            </a:r>
            <a:r>
              <a:rPr lang="en-US" altLang="ko-KR" sz="1400" dirty="0"/>
              <a:t> title="W3Schools Free Online Web Tutorials"&gt;&lt;/</a:t>
            </a:r>
            <a:r>
              <a:rPr lang="en-US" altLang="ko-KR" sz="1400" dirty="0" err="1"/>
              <a:t>iframe</a:t>
            </a:r>
            <a:r>
              <a:rPr lang="en-US" altLang="ko-KR" sz="1400" dirty="0" smtClean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&lt;div&gt;&lt;/div&gt;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division</a:t>
            </a: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2" action="ppaction://hlinkfile"/>
              </a:rPr>
              <a:t>HTML Cheat Sheet1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                    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3" action="ppaction://hlinkfile"/>
              </a:rPr>
              <a:t>HTML Cheat Sheet2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370935" y="897147"/>
            <a:ext cx="18049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370935" y="1121434"/>
            <a:ext cx="18049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>
            <a:off x="370935" y="2173856"/>
            <a:ext cx="18049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370935" y="2846716"/>
            <a:ext cx="18049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5392025" y="3244334"/>
            <a:ext cx="9136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Structure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370935" y="631116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>
                <a:latin typeface="Ebrima" panose="02000000000000000000" pitchFamily="2" charset="0"/>
                <a:ea typeface="Arial Unicode MS" panose="020B0604020202020204" pitchFamily="34" charset="-128"/>
                <a:cs typeface="Ebrima" panose="02000000000000000000" pitchFamily="2" charset="0"/>
              </a:rPr>
              <a:t>文書種類宣言</a:t>
            </a:r>
            <a:endParaRPr lang="en-US" altLang="ko-KR" sz="1400" dirty="0" smtClean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372698" y="1486517"/>
            <a:ext cx="12731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/>
              <a:t>html</a:t>
            </a:r>
            <a:r>
              <a:rPr lang="ko-KR" altLang="en-US" sz="1400" dirty="0"/>
              <a:t>文書情報</a:t>
            </a:r>
            <a:endParaRPr lang="en-US" altLang="ko-KR" sz="1400" b="1" dirty="0">
              <a:latin typeface="Ebrima" panose="02000000000000000000" pitchFamily="2" charset="0"/>
              <a:ea typeface="Arial Unicode MS" panose="020B0604020202020204" pitchFamily="34" charset="-128"/>
              <a:cs typeface="Ebrima" panose="02000000000000000000" pitchFamily="2" charset="0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370935" y="2356398"/>
            <a:ext cx="12731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/>
              <a:t>html</a:t>
            </a:r>
            <a:r>
              <a:rPr lang="ko-KR" altLang="en-US" sz="1400" dirty="0"/>
              <a:t>画面出力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2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9808" y="344773"/>
            <a:ext cx="861184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1960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: internet     1990.12.24: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primitive web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2"/>
              </a:rPr>
              <a:t>https://info.cern.ch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home of the first website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web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hosting vs web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server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codingClub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page  service method:  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1) file server: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3" action="ppaction://hlinkfile"/>
              </a:rPr>
              <a:t>Let’s R&amp;D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2) Web hosting service: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4"/>
              </a:rPr>
              <a:t>sakura internet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Domain name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service: </a:t>
            </a:r>
            <a:r>
              <a:rPr lang="ja-JP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 </a:t>
            </a:r>
            <a:r>
              <a:rPr lang="ja-JP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5"/>
              </a:rPr>
              <a:t>お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5"/>
              </a:rPr>
              <a:t>名前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5"/>
              </a:rPr>
              <a:t>.com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Domain name: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6"/>
              </a:rPr>
              <a:t>codingclub.lgjapanlab.com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037" y="328231"/>
            <a:ext cx="6014803" cy="2405921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365" y="3106690"/>
            <a:ext cx="5715000" cy="3181350"/>
          </a:xfrm>
          <a:prstGeom prst="rect">
            <a:avLst/>
          </a:prstGeom>
        </p:spPr>
      </p:pic>
      <p:cxnSp>
        <p:nvCxnSpPr>
          <p:cNvPr id="6" name="直線矢印コネクタ 5"/>
          <p:cNvCxnSpPr/>
          <p:nvPr/>
        </p:nvCxnSpPr>
        <p:spPr>
          <a:xfrm>
            <a:off x="6762336" y="5736567"/>
            <a:ext cx="2657712" cy="172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5613543" y="5598067"/>
            <a:ext cx="9057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Index.html </a:t>
            </a:r>
            <a:endParaRPr lang="ko-KR" altLang="en-US" sz="1200" dirty="0"/>
          </a:p>
        </p:txBody>
      </p:sp>
      <p:sp>
        <p:nvSpPr>
          <p:cNvPr id="16" name="正方形/長方形 15"/>
          <p:cNvSpPr/>
          <p:nvPr/>
        </p:nvSpPr>
        <p:spPr>
          <a:xfrm>
            <a:off x="9654454" y="5554936"/>
            <a:ext cx="9057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Index.html </a:t>
            </a:r>
            <a:endParaRPr lang="ko-KR" altLang="en-US" sz="1200" dirty="0"/>
          </a:p>
        </p:txBody>
      </p:sp>
      <p:sp>
        <p:nvSpPr>
          <p:cNvPr id="17" name="正方形/長方形 16"/>
          <p:cNvSpPr/>
          <p:nvPr/>
        </p:nvSpPr>
        <p:spPr>
          <a:xfrm>
            <a:off x="7682180" y="5762925"/>
            <a:ext cx="6623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upload </a:t>
            </a:r>
            <a:endParaRPr lang="ko-KR" altLang="en-US" sz="1200" dirty="0"/>
          </a:p>
        </p:txBody>
      </p:sp>
      <p:sp>
        <p:nvSpPr>
          <p:cNvPr id="18" name="正方形/長方形 17"/>
          <p:cNvSpPr/>
          <p:nvPr/>
        </p:nvSpPr>
        <p:spPr>
          <a:xfrm>
            <a:off x="7628471" y="4792399"/>
            <a:ext cx="723403" cy="276999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request </a:t>
            </a:r>
            <a:endParaRPr lang="ko-KR" altLang="en-US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8511943" y="4782825"/>
            <a:ext cx="814775" cy="276999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response </a:t>
            </a:r>
            <a:endParaRPr lang="ko-KR" altLang="en-US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10700541" y="4792399"/>
            <a:ext cx="12520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(Domain Name) </a:t>
            </a:r>
            <a:endParaRPr lang="ko-KR" altLang="en-US" sz="1200" dirty="0"/>
          </a:p>
        </p:txBody>
      </p:sp>
      <p:sp>
        <p:nvSpPr>
          <p:cNvPr id="21" name="正方形/長方形 20"/>
          <p:cNvSpPr/>
          <p:nvPr/>
        </p:nvSpPr>
        <p:spPr>
          <a:xfrm>
            <a:off x="9479598" y="4216137"/>
            <a:ext cx="11592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160.16.221.216</a:t>
            </a:r>
            <a:endParaRPr lang="ko-KR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10700541" y="4213955"/>
            <a:ext cx="10119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(IP address) </a:t>
            </a:r>
            <a:endParaRPr lang="ko-KR" altLang="en-US" sz="1200" dirty="0"/>
          </a:p>
        </p:txBody>
      </p:sp>
      <p:sp>
        <p:nvSpPr>
          <p:cNvPr id="24" name="正方形/長方形 23"/>
          <p:cNvSpPr/>
          <p:nvPr/>
        </p:nvSpPr>
        <p:spPr>
          <a:xfrm>
            <a:off x="9483061" y="6188259"/>
            <a:ext cx="12900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(sakura internet)</a:t>
            </a:r>
            <a:endParaRPr lang="ko-KR" altLang="en-US" sz="1200" dirty="0"/>
          </a:p>
        </p:txBody>
      </p:sp>
      <p:sp>
        <p:nvSpPr>
          <p:cNvPr id="25" name="正方形/長方形 24"/>
          <p:cNvSpPr/>
          <p:nvPr/>
        </p:nvSpPr>
        <p:spPr>
          <a:xfrm>
            <a:off x="9283294" y="4593518"/>
            <a:ext cx="1923219" cy="276999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codingclub.lgjapanlab.com</a:t>
            </a:r>
          </a:p>
        </p:txBody>
      </p:sp>
    </p:spTree>
    <p:extLst>
      <p:ext uri="{BB962C8B-B14F-4D97-AF65-F5344CB8AC3E}">
        <p14:creationId xmlns:p14="http://schemas.microsoft.com/office/powerpoint/2010/main" val="29841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9180" y="208056"/>
            <a:ext cx="598995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CSS: Cascading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Style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Sheets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Three Ways to Insert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CSS (html document)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1) Inline CSS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&lt;h1 style=“font-size: 40px; </a:t>
            </a: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color:blue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;”&gt;My Profile&lt;/h1&gt;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&lt;p style=“font-style: italic”&gt;</a:t>
            </a:r>
            <a:r>
              <a:rPr lang="en-US" altLang="ko-KR" sz="1400" dirty="0"/>
              <a:t>ChangHo OH joined LG Display </a:t>
            </a:r>
            <a:r>
              <a:rPr lang="en-US" altLang="ko-KR" sz="1400" dirty="0" smtClean="0"/>
              <a:t>…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&lt;/p&gt;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2) Internal CSS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&lt;head&gt;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&lt;style&gt;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h1 { 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font-size: 40px;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color: blue;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}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p {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   font-style: italic;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}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&lt;/style&gt;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&lt;/head&gt;</a:t>
            </a: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3) External CSS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&lt;head&gt;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 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&lt;link </a:t>
            </a:r>
            <a:r>
              <a:rPr lang="en-US" altLang="ko-KR" sz="14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rel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="</a:t>
            </a:r>
            <a:r>
              <a:rPr lang="en-US" altLang="ko-KR" sz="14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stylesheet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" </a:t>
            </a:r>
            <a:r>
              <a:rPr lang="en-US" altLang="ko-KR" sz="14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href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=“style.css"&gt;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&lt;/head&gt;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578" y="758277"/>
            <a:ext cx="4762500" cy="342900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578" y="4040629"/>
            <a:ext cx="4762500" cy="2187816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4157132" y="4373544"/>
            <a:ext cx="2599268" cy="22467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style.css file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h1 { 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font-size: 40px;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color: blue;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}</a:t>
            </a: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p {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    font-style: italic;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6151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方形/長方形 34"/>
          <p:cNvSpPr/>
          <p:nvPr/>
        </p:nvSpPr>
        <p:spPr>
          <a:xfrm>
            <a:off x="1186674" y="412520"/>
            <a:ext cx="2039127" cy="9027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正方形/長方形 44"/>
          <p:cNvSpPr/>
          <p:nvPr/>
        </p:nvSpPr>
        <p:spPr>
          <a:xfrm>
            <a:off x="1301018" y="385508"/>
            <a:ext cx="190465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h1 { </a:t>
            </a:r>
          </a:p>
          <a:p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font-size: 40px;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color: blue;</a:t>
            </a: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}</a:t>
            </a:r>
            <a:endParaRPr lang="ko-KR" altLang="en-US" sz="14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22230" y="1850097"/>
            <a:ext cx="467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2"/>
              </a:rPr>
              <a:t>https://www.w3schools.com/cssref/css_selectors.php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cxnSp>
        <p:nvCxnSpPr>
          <p:cNvPr id="36" name="直線矢印コネクタ 35"/>
          <p:cNvCxnSpPr/>
          <p:nvPr/>
        </p:nvCxnSpPr>
        <p:spPr>
          <a:xfrm>
            <a:off x="1050081" y="521985"/>
            <a:ext cx="356513" cy="34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/>
          <p:cNvSpPr/>
          <p:nvPr/>
        </p:nvSpPr>
        <p:spPr>
          <a:xfrm>
            <a:off x="347398" y="368096"/>
            <a:ext cx="8520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selector </a:t>
            </a:r>
          </a:p>
        </p:txBody>
      </p:sp>
      <p:sp>
        <p:nvSpPr>
          <p:cNvPr id="38" name="正方形/長方形 37"/>
          <p:cNvSpPr/>
          <p:nvPr/>
        </p:nvSpPr>
        <p:spPr>
          <a:xfrm>
            <a:off x="1186674" y="1290032"/>
            <a:ext cx="891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property </a:t>
            </a:r>
          </a:p>
        </p:txBody>
      </p:sp>
      <p:cxnSp>
        <p:nvCxnSpPr>
          <p:cNvPr id="39" name="直線矢印コネクタ 38"/>
          <p:cNvCxnSpPr/>
          <p:nvPr/>
        </p:nvCxnSpPr>
        <p:spPr>
          <a:xfrm flipV="1">
            <a:off x="1671957" y="1056267"/>
            <a:ext cx="130827" cy="258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 flipV="1">
            <a:off x="2365626" y="1036457"/>
            <a:ext cx="123806" cy="289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/>
          <p:cNvSpPr/>
          <p:nvPr/>
        </p:nvSpPr>
        <p:spPr>
          <a:xfrm>
            <a:off x="2391622" y="1250410"/>
            <a:ext cx="6313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value </a:t>
            </a:r>
          </a:p>
        </p:txBody>
      </p:sp>
      <p:sp>
        <p:nvSpPr>
          <p:cNvPr id="42" name="正方形/長方形 41"/>
          <p:cNvSpPr/>
          <p:nvPr/>
        </p:nvSpPr>
        <p:spPr>
          <a:xfrm>
            <a:off x="3327393" y="708674"/>
            <a:ext cx="10814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declaration </a:t>
            </a:r>
          </a:p>
        </p:txBody>
      </p:sp>
      <p:sp>
        <p:nvSpPr>
          <p:cNvPr id="43" name="円/楕円 42"/>
          <p:cNvSpPr/>
          <p:nvPr/>
        </p:nvSpPr>
        <p:spPr>
          <a:xfrm>
            <a:off x="1406594" y="556154"/>
            <a:ext cx="1616355" cy="62393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直線矢印コネクタ 43"/>
          <p:cNvCxnSpPr/>
          <p:nvPr/>
        </p:nvCxnSpPr>
        <p:spPr>
          <a:xfrm flipH="1">
            <a:off x="3048945" y="863869"/>
            <a:ext cx="3134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図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79" y="2772033"/>
            <a:ext cx="5873043" cy="3899700"/>
          </a:xfrm>
          <a:prstGeom prst="rect">
            <a:avLst/>
          </a:prstGeom>
        </p:spPr>
      </p:pic>
      <p:sp>
        <p:nvSpPr>
          <p:cNvPr id="60" name="テキスト ボックス 59"/>
          <p:cNvSpPr txBox="1"/>
          <p:nvPr/>
        </p:nvSpPr>
        <p:spPr>
          <a:xfrm>
            <a:off x="322229" y="2279532"/>
            <a:ext cx="467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4"/>
              </a:rPr>
              <a:t>block level element  vs  inline element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951133" y="2479982"/>
            <a:ext cx="110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display : block;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134" y="503887"/>
            <a:ext cx="4699000" cy="1938338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8153400" y="2479982"/>
            <a:ext cx="1109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display : inline;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355667" y="2479982"/>
            <a:ext cx="1507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display : inline-block;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0862733" y="2448809"/>
            <a:ext cx="111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display : none;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985000" y="3112122"/>
            <a:ext cx="49953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flex, grid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m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edia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6" action="ppaction://hlinkfile"/>
              </a:rPr>
              <a:t>CSS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6" action="ppaction://hlinkfile"/>
              </a:rPr>
              <a:t>Cheat Sheet1                           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7" action="ppaction://hlinkfile"/>
              </a:rPr>
              <a:t>CSS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7" action="ppaction://hlinkfile"/>
              </a:rPr>
              <a:t>Cheat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7" action="ppaction://hlinkfile"/>
              </a:rPr>
              <a:t>Sheet2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    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8" action="ppaction://hlinkfile"/>
              </a:rPr>
              <a:t>CSS Cheat 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  <a:hlinkClick r:id="rId8" action="ppaction://hlinkfile"/>
              </a:rPr>
              <a:t>Sheet3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144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940" y="1101777"/>
            <a:ext cx="7488211" cy="5036695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375941" y="1101777"/>
            <a:ext cx="7488211" cy="50366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3008153" y="1342455"/>
            <a:ext cx="8883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LOGO </a:t>
            </a:r>
          </a:p>
        </p:txBody>
      </p:sp>
      <p:sp>
        <p:nvSpPr>
          <p:cNvPr id="24" name="正方形/長方形 23"/>
          <p:cNvSpPr/>
          <p:nvPr/>
        </p:nvSpPr>
        <p:spPr>
          <a:xfrm>
            <a:off x="6807796" y="1342455"/>
            <a:ext cx="69442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menu#1 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7594778" y="1342455"/>
            <a:ext cx="7104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menu#2 </a:t>
            </a:r>
          </a:p>
        </p:txBody>
      </p:sp>
      <p:sp>
        <p:nvSpPr>
          <p:cNvPr id="26" name="正方形/長方形 25"/>
          <p:cNvSpPr/>
          <p:nvPr/>
        </p:nvSpPr>
        <p:spPr>
          <a:xfrm>
            <a:off x="8474320" y="1342455"/>
            <a:ext cx="71205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menu#3 </a:t>
            </a:r>
          </a:p>
        </p:txBody>
      </p:sp>
      <p:cxnSp>
        <p:nvCxnSpPr>
          <p:cNvPr id="6" name="直線コネクタ 5"/>
          <p:cNvCxnSpPr/>
          <p:nvPr/>
        </p:nvCxnSpPr>
        <p:spPr>
          <a:xfrm>
            <a:off x="3896538" y="2188563"/>
            <a:ext cx="0" cy="3162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/>
        </p:nvSpPr>
        <p:spPr>
          <a:xfrm>
            <a:off x="2817069" y="2286835"/>
            <a:ext cx="80021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sidebar#1 </a:t>
            </a:r>
          </a:p>
        </p:txBody>
      </p:sp>
      <p:sp>
        <p:nvSpPr>
          <p:cNvPr id="33" name="正方形/長方形 32"/>
          <p:cNvSpPr/>
          <p:nvPr/>
        </p:nvSpPr>
        <p:spPr>
          <a:xfrm>
            <a:off x="2824654" y="2600845"/>
            <a:ext cx="81624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sidebar#2 </a:t>
            </a:r>
          </a:p>
        </p:txBody>
      </p:sp>
      <p:sp>
        <p:nvSpPr>
          <p:cNvPr id="34" name="正方形/長方形 33"/>
          <p:cNvSpPr/>
          <p:nvPr/>
        </p:nvSpPr>
        <p:spPr>
          <a:xfrm>
            <a:off x="2817068" y="2914856"/>
            <a:ext cx="81785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sidebar#3 </a:t>
            </a:r>
          </a:p>
        </p:txBody>
      </p:sp>
      <p:sp>
        <p:nvSpPr>
          <p:cNvPr id="46" name="正方形/長方形 45"/>
          <p:cNvSpPr/>
          <p:nvPr/>
        </p:nvSpPr>
        <p:spPr>
          <a:xfrm>
            <a:off x="4083634" y="2286835"/>
            <a:ext cx="540514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chemeClr val="bg1"/>
                </a:solidFill>
              </a:rPr>
              <a:t>Lorem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ipsum</a:t>
            </a:r>
            <a:r>
              <a:rPr lang="en-US" altLang="ko-KR" sz="1100" dirty="0">
                <a:solidFill>
                  <a:schemeClr val="bg1"/>
                </a:solidFill>
              </a:rPr>
              <a:t> dolor sit </a:t>
            </a:r>
            <a:r>
              <a:rPr lang="en-US" altLang="ko-KR" sz="1100" dirty="0" err="1">
                <a:solidFill>
                  <a:schemeClr val="bg1"/>
                </a:solidFill>
              </a:rPr>
              <a:t>amet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consectetur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adipisicing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elit</a:t>
            </a:r>
            <a:r>
              <a:rPr lang="en-US" altLang="ko-KR" sz="1100" dirty="0">
                <a:solidFill>
                  <a:schemeClr val="bg1"/>
                </a:solidFill>
              </a:rPr>
              <a:t>. </a:t>
            </a:r>
            <a:r>
              <a:rPr lang="en-US" altLang="ko-KR" sz="1100" dirty="0" err="1">
                <a:solidFill>
                  <a:schemeClr val="bg1"/>
                </a:solidFill>
              </a:rPr>
              <a:t>Repellat</a:t>
            </a:r>
            <a:r>
              <a:rPr lang="en-US" altLang="ko-KR" sz="1100" dirty="0">
                <a:solidFill>
                  <a:schemeClr val="bg1"/>
                </a:solidFill>
              </a:rPr>
              <a:t> alias </a:t>
            </a:r>
            <a:r>
              <a:rPr lang="en-US" altLang="ko-KR" sz="1100" dirty="0" err="1">
                <a:solidFill>
                  <a:schemeClr val="bg1"/>
                </a:solidFill>
              </a:rPr>
              <a:t>consectetur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commodi</a:t>
            </a:r>
            <a:r>
              <a:rPr lang="en-US" altLang="ko-KR" sz="1100" dirty="0">
                <a:solidFill>
                  <a:schemeClr val="bg1"/>
                </a:solidFill>
              </a:rPr>
              <a:t>! </a:t>
            </a:r>
            <a:r>
              <a:rPr lang="en-US" altLang="ko-KR" sz="1100" dirty="0" err="1">
                <a:solidFill>
                  <a:schemeClr val="bg1"/>
                </a:solidFill>
              </a:rPr>
              <a:t>Tenetur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nam</a:t>
            </a:r>
            <a:r>
              <a:rPr lang="en-US" altLang="ko-KR" sz="1100" dirty="0">
                <a:solidFill>
                  <a:schemeClr val="bg1"/>
                </a:solidFill>
              </a:rPr>
              <a:t>! </a:t>
            </a:r>
            <a:r>
              <a:rPr lang="en-US" altLang="ko-KR" sz="1100" dirty="0" err="1">
                <a:solidFill>
                  <a:schemeClr val="bg1"/>
                </a:solidFill>
              </a:rPr>
              <a:t>Illo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placeat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eligendi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suscipit</a:t>
            </a:r>
            <a:r>
              <a:rPr lang="en-US" altLang="ko-KR" sz="1100" dirty="0">
                <a:solidFill>
                  <a:schemeClr val="bg1"/>
                </a:solidFill>
              </a:rPr>
              <a:t> rem </a:t>
            </a:r>
            <a:r>
              <a:rPr lang="en-US" altLang="ko-KR" sz="1100" dirty="0" err="1">
                <a:solidFill>
                  <a:schemeClr val="bg1"/>
                </a:solidFill>
              </a:rPr>
              <a:t>ipsam</a:t>
            </a:r>
            <a:r>
              <a:rPr lang="en-US" altLang="ko-KR" sz="1100" dirty="0">
                <a:solidFill>
                  <a:schemeClr val="bg1"/>
                </a:solidFill>
              </a:rPr>
              <a:t> culpa </a:t>
            </a:r>
            <a:r>
              <a:rPr lang="en-US" altLang="ko-KR" sz="1100" dirty="0" err="1">
                <a:solidFill>
                  <a:schemeClr val="bg1"/>
                </a:solidFill>
              </a:rPr>
              <a:t>officiis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maxime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itaque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saepe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eius</a:t>
            </a:r>
            <a:r>
              <a:rPr lang="en-US" altLang="ko-KR" sz="1100" dirty="0">
                <a:solidFill>
                  <a:schemeClr val="bg1"/>
                </a:solidFill>
              </a:rPr>
              <a:t> quod </a:t>
            </a:r>
            <a:r>
              <a:rPr lang="en-US" altLang="ko-KR" sz="1100" dirty="0" err="1">
                <a:solidFill>
                  <a:schemeClr val="bg1"/>
                </a:solidFill>
              </a:rPr>
              <a:t>voluptatem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repellat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voluptates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eveniet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facere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ducimus</a:t>
            </a:r>
            <a:r>
              <a:rPr lang="en-US" altLang="ko-KR" sz="1100" dirty="0">
                <a:solidFill>
                  <a:schemeClr val="bg1"/>
                </a:solidFill>
              </a:rPr>
              <a:t> fugit </a:t>
            </a:r>
            <a:r>
              <a:rPr lang="en-US" altLang="ko-KR" sz="1100" dirty="0" err="1">
                <a:solidFill>
                  <a:schemeClr val="bg1"/>
                </a:solidFill>
              </a:rPr>
              <a:t>magnam</a:t>
            </a:r>
            <a:r>
              <a:rPr lang="en-US" altLang="ko-KR" sz="1100" dirty="0">
                <a:solidFill>
                  <a:schemeClr val="bg1"/>
                </a:solidFill>
              </a:rPr>
              <a:t> hic animi </a:t>
            </a:r>
            <a:r>
              <a:rPr lang="en-US" altLang="ko-KR" sz="1100" dirty="0" err="1">
                <a:solidFill>
                  <a:schemeClr val="bg1"/>
                </a:solidFill>
              </a:rPr>
              <a:t>facilis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perferendis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laudantium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4878216" y="5712022"/>
            <a:ext cx="122341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err="1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Copywrite</a:t>
            </a:r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et al… </a:t>
            </a:r>
          </a:p>
        </p:txBody>
      </p:sp>
      <p:sp>
        <p:nvSpPr>
          <p:cNvPr id="48" name="正方形/長方形 47"/>
          <p:cNvSpPr/>
          <p:nvPr/>
        </p:nvSpPr>
        <p:spPr>
          <a:xfrm>
            <a:off x="4083634" y="3367258"/>
            <a:ext cx="540514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err="1">
                <a:solidFill>
                  <a:schemeClr val="bg1"/>
                </a:solidFill>
              </a:rPr>
              <a:t>Lorem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ipsum</a:t>
            </a:r>
            <a:r>
              <a:rPr lang="en-US" altLang="ko-KR" sz="1100" dirty="0">
                <a:solidFill>
                  <a:schemeClr val="bg1"/>
                </a:solidFill>
              </a:rPr>
              <a:t> dolor sit </a:t>
            </a:r>
            <a:r>
              <a:rPr lang="en-US" altLang="ko-KR" sz="1100" dirty="0" err="1">
                <a:solidFill>
                  <a:schemeClr val="bg1"/>
                </a:solidFill>
              </a:rPr>
              <a:t>amet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consectetur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adipisicing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elit</a:t>
            </a:r>
            <a:r>
              <a:rPr lang="en-US" altLang="ko-KR" sz="1100" dirty="0">
                <a:solidFill>
                  <a:schemeClr val="bg1"/>
                </a:solidFill>
              </a:rPr>
              <a:t>. </a:t>
            </a:r>
            <a:r>
              <a:rPr lang="en-US" altLang="ko-KR" sz="1100" dirty="0" err="1">
                <a:solidFill>
                  <a:schemeClr val="bg1"/>
                </a:solidFill>
              </a:rPr>
              <a:t>Repellat</a:t>
            </a:r>
            <a:r>
              <a:rPr lang="en-US" altLang="ko-KR" sz="1100" dirty="0">
                <a:solidFill>
                  <a:schemeClr val="bg1"/>
                </a:solidFill>
              </a:rPr>
              <a:t> alias </a:t>
            </a:r>
            <a:r>
              <a:rPr lang="en-US" altLang="ko-KR" sz="1100" dirty="0" err="1">
                <a:solidFill>
                  <a:schemeClr val="bg1"/>
                </a:solidFill>
              </a:rPr>
              <a:t>consectetur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commodi</a:t>
            </a:r>
            <a:r>
              <a:rPr lang="en-US" altLang="ko-KR" sz="1100" dirty="0">
                <a:solidFill>
                  <a:schemeClr val="bg1"/>
                </a:solidFill>
              </a:rPr>
              <a:t>! </a:t>
            </a:r>
            <a:r>
              <a:rPr lang="en-US" altLang="ko-KR" sz="1100" dirty="0" err="1">
                <a:solidFill>
                  <a:schemeClr val="bg1"/>
                </a:solidFill>
              </a:rPr>
              <a:t>Tenetur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nam</a:t>
            </a:r>
            <a:r>
              <a:rPr lang="en-US" altLang="ko-KR" sz="1100" dirty="0">
                <a:solidFill>
                  <a:schemeClr val="bg1"/>
                </a:solidFill>
              </a:rPr>
              <a:t>! </a:t>
            </a:r>
            <a:r>
              <a:rPr lang="en-US" altLang="ko-KR" sz="1100" dirty="0" err="1">
                <a:solidFill>
                  <a:schemeClr val="bg1"/>
                </a:solidFill>
              </a:rPr>
              <a:t>Illo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placeat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eligendi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suscipit</a:t>
            </a:r>
            <a:r>
              <a:rPr lang="en-US" altLang="ko-KR" sz="1100" dirty="0">
                <a:solidFill>
                  <a:schemeClr val="bg1"/>
                </a:solidFill>
              </a:rPr>
              <a:t> rem </a:t>
            </a:r>
            <a:r>
              <a:rPr lang="en-US" altLang="ko-KR" sz="1100" dirty="0" err="1">
                <a:solidFill>
                  <a:schemeClr val="bg1"/>
                </a:solidFill>
              </a:rPr>
              <a:t>ipsam</a:t>
            </a:r>
            <a:r>
              <a:rPr lang="en-US" altLang="ko-KR" sz="1100" dirty="0">
                <a:solidFill>
                  <a:schemeClr val="bg1"/>
                </a:solidFill>
              </a:rPr>
              <a:t> culpa </a:t>
            </a:r>
            <a:r>
              <a:rPr lang="en-US" altLang="ko-KR" sz="1100" dirty="0" err="1">
                <a:solidFill>
                  <a:schemeClr val="bg1"/>
                </a:solidFill>
              </a:rPr>
              <a:t>officiis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maxime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itaque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saepe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eius</a:t>
            </a:r>
            <a:r>
              <a:rPr lang="en-US" altLang="ko-KR" sz="1100" dirty="0">
                <a:solidFill>
                  <a:schemeClr val="bg1"/>
                </a:solidFill>
              </a:rPr>
              <a:t> quod </a:t>
            </a:r>
            <a:r>
              <a:rPr lang="en-US" altLang="ko-KR" sz="1100" dirty="0" err="1">
                <a:solidFill>
                  <a:schemeClr val="bg1"/>
                </a:solidFill>
              </a:rPr>
              <a:t>voluptatem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repellat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voluptates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eveniet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facere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ducimus</a:t>
            </a:r>
            <a:r>
              <a:rPr lang="en-US" altLang="ko-KR" sz="1100" dirty="0">
                <a:solidFill>
                  <a:schemeClr val="bg1"/>
                </a:solidFill>
              </a:rPr>
              <a:t> fugit </a:t>
            </a:r>
            <a:r>
              <a:rPr lang="en-US" altLang="ko-KR" sz="1100" dirty="0" err="1">
                <a:solidFill>
                  <a:schemeClr val="bg1"/>
                </a:solidFill>
              </a:rPr>
              <a:t>magnam</a:t>
            </a:r>
            <a:r>
              <a:rPr lang="en-US" altLang="ko-KR" sz="1100" dirty="0">
                <a:solidFill>
                  <a:schemeClr val="bg1"/>
                </a:solidFill>
              </a:rPr>
              <a:t> hic animi </a:t>
            </a:r>
            <a:r>
              <a:rPr lang="en-US" altLang="ko-KR" sz="1100" dirty="0" err="1">
                <a:solidFill>
                  <a:schemeClr val="bg1"/>
                </a:solidFill>
              </a:rPr>
              <a:t>facilis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perferendis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 err="1">
                <a:solidFill>
                  <a:schemeClr val="bg1"/>
                </a:solidFill>
              </a:rPr>
              <a:t>laudantium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100" dirty="0" smtClean="0">
                <a:solidFill>
                  <a:schemeClr val="bg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625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07" y="580456"/>
            <a:ext cx="11277600" cy="57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5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7" y="586597"/>
            <a:ext cx="10648485" cy="563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6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7" y="522947"/>
            <a:ext cx="11213066" cy="56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2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12903" y="2900603"/>
            <a:ext cx="654350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@</a:t>
            </a:r>
            <a:r>
              <a:rPr lang="en-US" altLang="ko-KR" sz="1400" dirty="0"/>
              <a:t>media only screen and (max-width: </a:t>
            </a:r>
            <a:r>
              <a:rPr lang="en-US" altLang="ko-KR" sz="1400" dirty="0" smtClean="0"/>
              <a:t>640px</a:t>
            </a:r>
            <a:r>
              <a:rPr lang="en-US" altLang="ko-KR" sz="1400" dirty="0"/>
              <a:t>) </a:t>
            </a:r>
            <a:r>
              <a:rPr lang="en-US" altLang="ko-KR" sz="1400" dirty="0" smtClean="0"/>
              <a:t>{ </a:t>
            </a:r>
          </a:p>
          <a:p>
            <a:r>
              <a:rPr lang="en-US" altLang="ko-KR" sz="1400" dirty="0" smtClean="0"/>
              <a:t>			</a:t>
            </a:r>
          </a:p>
          <a:p>
            <a:r>
              <a:rPr lang="en-US" altLang="ko-KR" sz="1400" dirty="0" smtClean="0"/>
              <a:t>}</a:t>
            </a:r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400" dirty="0"/>
              <a:t>@media only screen and </a:t>
            </a:r>
            <a:r>
              <a:rPr lang="en-US" altLang="ko-KR" sz="1400" dirty="0" smtClean="0"/>
              <a:t>(min-width</a:t>
            </a:r>
            <a:r>
              <a:rPr lang="en-US" altLang="ko-KR" sz="1400" dirty="0"/>
              <a:t>: 640px) {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}</a:t>
            </a:r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/>
              <a:t>@media only screen and (min-width: 640px</a:t>
            </a:r>
            <a:r>
              <a:rPr lang="en-US" altLang="ko-KR" sz="1400" dirty="0" smtClean="0"/>
              <a:t>) and (max-width: 1024px)</a:t>
            </a:r>
            <a:r>
              <a:rPr lang="en-US" altLang="ko-KR" sz="1400" dirty="0"/>
              <a:t> { 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/>
              <a:t>}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0" y="311743"/>
            <a:ext cx="6652260" cy="2354580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>
          <a:xfrm>
            <a:off x="5181599" y="3040353"/>
            <a:ext cx="2420315" cy="491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直線コネクタ 17"/>
          <p:cNvCxnSpPr/>
          <p:nvPr/>
        </p:nvCxnSpPr>
        <p:spPr>
          <a:xfrm>
            <a:off x="8013940" y="2904497"/>
            <a:ext cx="0" cy="978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 flipH="1">
            <a:off x="5181599" y="2904497"/>
            <a:ext cx="1" cy="1957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>
            <a:off x="5181600" y="3729517"/>
            <a:ext cx="28323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9058968" y="2904497"/>
            <a:ext cx="0" cy="1172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5368982" y="3563513"/>
            <a:ext cx="671209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400" dirty="0"/>
              <a:t>640px</a:t>
            </a:r>
            <a:endParaRPr lang="ko-KR" altLang="en-US" sz="1400" dirty="0"/>
          </a:p>
        </p:txBody>
      </p:sp>
      <p:cxnSp>
        <p:nvCxnSpPr>
          <p:cNvPr id="28" name="直線コネクタ 27"/>
          <p:cNvCxnSpPr/>
          <p:nvPr/>
        </p:nvCxnSpPr>
        <p:spPr>
          <a:xfrm>
            <a:off x="10066674" y="2910500"/>
            <a:ext cx="0" cy="13715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>
            <a:off x="5181600" y="3942804"/>
            <a:ext cx="3877368" cy="180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5970090" y="3817084"/>
            <a:ext cx="671209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400" dirty="0" smtClean="0"/>
              <a:t>768px</a:t>
            </a:r>
            <a:endParaRPr lang="ko-KR" altLang="en-US" sz="1400" dirty="0"/>
          </a:p>
        </p:txBody>
      </p:sp>
      <p:cxnSp>
        <p:nvCxnSpPr>
          <p:cNvPr id="34" name="直線矢印コネクタ 33"/>
          <p:cNvCxnSpPr/>
          <p:nvPr/>
        </p:nvCxnSpPr>
        <p:spPr>
          <a:xfrm>
            <a:off x="5164791" y="4185993"/>
            <a:ext cx="49018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/>
          <p:cNvSpPr/>
          <p:nvPr/>
        </p:nvSpPr>
        <p:spPr>
          <a:xfrm>
            <a:off x="6602083" y="4020231"/>
            <a:ext cx="790756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1024px</a:t>
            </a:r>
            <a:endParaRPr lang="ko-KR" altLang="en-US" sz="1400" dirty="0"/>
          </a:p>
        </p:txBody>
      </p:sp>
      <p:cxnSp>
        <p:nvCxnSpPr>
          <p:cNvPr id="38" name="直線コネクタ 37"/>
          <p:cNvCxnSpPr/>
          <p:nvPr/>
        </p:nvCxnSpPr>
        <p:spPr>
          <a:xfrm flipH="1">
            <a:off x="10915760" y="2900604"/>
            <a:ext cx="1" cy="16892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>
            <a:off x="11712067" y="2900603"/>
            <a:ext cx="0" cy="1961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/>
          <p:cNvCxnSpPr/>
          <p:nvPr/>
        </p:nvCxnSpPr>
        <p:spPr>
          <a:xfrm>
            <a:off x="5164791" y="4444929"/>
            <a:ext cx="57509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>
          <a:xfrm>
            <a:off x="7377508" y="4282086"/>
            <a:ext cx="91438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1280px</a:t>
            </a:r>
            <a:endParaRPr lang="ko-KR" altLang="en-US" sz="1400" dirty="0"/>
          </a:p>
        </p:txBody>
      </p:sp>
      <p:cxnSp>
        <p:nvCxnSpPr>
          <p:cNvPr id="46" name="直線矢印コネクタ 45"/>
          <p:cNvCxnSpPr/>
          <p:nvPr/>
        </p:nvCxnSpPr>
        <p:spPr>
          <a:xfrm>
            <a:off x="5181600" y="4694911"/>
            <a:ext cx="65304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/>
          <p:cNvSpPr/>
          <p:nvPr/>
        </p:nvSpPr>
        <p:spPr>
          <a:xfrm>
            <a:off x="8261539" y="4554274"/>
            <a:ext cx="82665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1536px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0023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571152" y="300716"/>
            <a:ext cx="3346750" cy="64479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solidFill>
                  <a:prstClr val="black"/>
                </a:solidFill>
              </a:rPr>
              <a:t>Javascript</a:t>
            </a:r>
            <a:r>
              <a:rPr lang="en-US" altLang="ko-KR" sz="1400" dirty="0" smtClean="0">
                <a:solidFill>
                  <a:prstClr val="black"/>
                </a:solidFill>
              </a:rPr>
              <a:t> </a:t>
            </a:r>
            <a:r>
              <a:rPr lang="en-US" altLang="ko-KR" sz="1400" dirty="0">
                <a:solidFill>
                  <a:prstClr val="black"/>
                </a:solidFill>
              </a:rPr>
              <a:t>(programming language</a:t>
            </a:r>
            <a:r>
              <a:rPr lang="en-US" altLang="ko-KR" sz="1400" dirty="0" smtClean="0">
                <a:solidFill>
                  <a:prstClr val="black"/>
                </a:solidFill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Variables</a:t>
            </a:r>
          </a:p>
          <a:p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let   	</a:t>
            </a:r>
            <a:r>
              <a:rPr lang="en-US" altLang="ko-KR" sz="1100" dirty="0" smtClean="0"/>
              <a:t>(changeable)</a:t>
            </a:r>
          </a:p>
          <a:p>
            <a:r>
              <a:rPr lang="en-US" altLang="ko-KR" sz="1100" dirty="0" smtClean="0"/>
              <a:t>let a = 1;	(numeric type)</a:t>
            </a:r>
          </a:p>
          <a:p>
            <a:r>
              <a:rPr lang="en-US" altLang="ko-KR" sz="1100" dirty="0" smtClean="0"/>
              <a:t>let b = ‘</a:t>
            </a:r>
            <a:r>
              <a:rPr lang="en-US" altLang="ko-KR" sz="1100" dirty="0"/>
              <a:t>tom’;  </a:t>
            </a:r>
            <a:r>
              <a:rPr lang="en-US" altLang="ko-KR" sz="1100" dirty="0" smtClean="0"/>
              <a:t>(string type)</a:t>
            </a:r>
          </a:p>
          <a:p>
            <a:r>
              <a:rPr lang="en-US" altLang="ko-KR" sz="1100" dirty="0" smtClean="0"/>
              <a:t>Let c = </a:t>
            </a:r>
            <a:r>
              <a:rPr lang="en-US" altLang="ko-KR" sz="1100" dirty="0"/>
              <a:t>true;	</a:t>
            </a:r>
            <a:r>
              <a:rPr lang="en-US" altLang="ko-KR" sz="1100" dirty="0" smtClean="0"/>
              <a:t>(</a:t>
            </a:r>
            <a:r>
              <a:rPr lang="en-US" altLang="ko-KR" sz="1100" dirty="0" err="1" smtClean="0"/>
              <a:t>boolean</a:t>
            </a:r>
            <a:r>
              <a:rPr lang="en-US" altLang="ko-KR" sz="1100" dirty="0" smtClean="0"/>
              <a:t> type)</a:t>
            </a:r>
          </a:p>
          <a:p>
            <a:endParaRPr lang="en-US" altLang="ko-KR" sz="1100" dirty="0"/>
          </a:p>
          <a:p>
            <a:r>
              <a:rPr lang="en-US" altLang="ko-KR" sz="1100" dirty="0" smtClean="0"/>
              <a:t>a = 20;</a:t>
            </a:r>
          </a:p>
          <a:p>
            <a:r>
              <a:rPr lang="en-US" altLang="ko-KR" sz="1100" dirty="0" smtClean="0"/>
              <a:t>b = “jerry”;</a:t>
            </a:r>
          </a:p>
          <a:p>
            <a:r>
              <a:rPr lang="en-US" altLang="ko-KR" sz="1100" dirty="0" smtClean="0"/>
              <a:t>c = false;</a:t>
            </a:r>
          </a:p>
          <a:p>
            <a:endParaRPr lang="en-US" altLang="ko-KR" sz="1100" dirty="0" smtClean="0"/>
          </a:p>
          <a:p>
            <a:pPr marL="171450" indent="-171450">
              <a:buFontTx/>
              <a:buChar char="-"/>
            </a:pPr>
            <a:r>
              <a:rPr lang="en-US" altLang="ko-KR" sz="1100" dirty="0" err="1" smtClean="0"/>
              <a:t>const</a:t>
            </a:r>
            <a:r>
              <a:rPr lang="en-US" altLang="ko-KR" sz="1100" dirty="0" smtClean="0"/>
              <a:t> </a:t>
            </a:r>
            <a:r>
              <a:rPr lang="en-US" altLang="ko-KR" sz="1100" dirty="0"/>
              <a:t>	</a:t>
            </a:r>
            <a:r>
              <a:rPr lang="en-US" altLang="ko-KR" sz="1100" dirty="0" smtClean="0"/>
              <a:t>(cannot </a:t>
            </a:r>
            <a:r>
              <a:rPr lang="en-US" altLang="ko-KR" sz="1100" dirty="0"/>
              <a:t>be </a:t>
            </a:r>
            <a:r>
              <a:rPr lang="en-US" altLang="ko-KR" sz="1100" dirty="0" smtClean="0"/>
              <a:t>changed)</a:t>
            </a:r>
          </a:p>
          <a:p>
            <a:r>
              <a:rPr lang="en-US" altLang="ko-KR" sz="1100" dirty="0" err="1" smtClean="0"/>
              <a:t>const</a:t>
            </a:r>
            <a:r>
              <a:rPr lang="en-US" altLang="ko-KR" sz="1100" dirty="0" smtClean="0"/>
              <a:t> x = 1;</a:t>
            </a:r>
          </a:p>
          <a:p>
            <a:r>
              <a:rPr lang="en-US" altLang="ko-KR" sz="1100" dirty="0" err="1" smtClean="0"/>
              <a:t>const</a:t>
            </a:r>
            <a:r>
              <a:rPr lang="en-US" altLang="ko-KR" sz="1100" dirty="0" smtClean="0"/>
              <a:t> y = ‘super man’;</a:t>
            </a:r>
          </a:p>
          <a:p>
            <a:r>
              <a:rPr lang="en-US" altLang="ko-KR" sz="1100" dirty="0" err="1" smtClean="0"/>
              <a:t>const</a:t>
            </a:r>
            <a:r>
              <a:rPr lang="en-US" altLang="ko-KR" sz="1100" dirty="0" smtClean="0"/>
              <a:t> z = false; </a:t>
            </a:r>
          </a:p>
          <a:p>
            <a:endParaRPr lang="en-US" altLang="ko-KR" sz="1100" dirty="0" smtClean="0"/>
          </a:p>
          <a:p>
            <a:r>
              <a:rPr lang="en-US" altLang="ko-KR" sz="1100" dirty="0" smtClean="0"/>
              <a:t>x = 20;   (x)</a:t>
            </a:r>
          </a:p>
          <a:p>
            <a:endParaRPr lang="en-US" altLang="ko-KR" sz="1100" dirty="0" smtClean="0"/>
          </a:p>
          <a:p>
            <a:pPr marL="171450" indent="-171450">
              <a:buFontTx/>
              <a:buChar char="-"/>
            </a:pPr>
            <a:r>
              <a:rPr lang="en-US" altLang="ko-KR" sz="1100" dirty="0" err="1" smtClean="0"/>
              <a:t>var</a:t>
            </a:r>
            <a:r>
              <a:rPr lang="en-US" altLang="ko-KR" sz="1100" dirty="0" smtClean="0"/>
              <a:t>  (</a:t>
            </a:r>
            <a:r>
              <a:rPr lang="en-US" altLang="ja-JP" sz="1100" dirty="0"/>
              <a:t>'let' </a:t>
            </a:r>
            <a:r>
              <a:rPr lang="ja-JP" altLang="en-US" sz="1100" dirty="0"/>
              <a:t>と同じ機能なのに使わない方が良い</a:t>
            </a:r>
            <a:r>
              <a:rPr lang="ja-JP" altLang="en-US" sz="1100" dirty="0" smtClean="0"/>
              <a:t>。</a:t>
            </a:r>
            <a:r>
              <a:rPr lang="en-US" altLang="ja-JP" sz="1100" dirty="0" smtClean="0"/>
              <a:t>)</a:t>
            </a:r>
          </a:p>
          <a:p>
            <a:pPr marL="171450" indent="-171450">
              <a:buFontTx/>
              <a:buChar char="-"/>
            </a:pPr>
            <a:endParaRPr lang="en-US" altLang="ja-JP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Screen output function</a:t>
            </a:r>
          </a:p>
          <a:p>
            <a:endParaRPr lang="en-US" altLang="ko-KR" sz="1100" dirty="0"/>
          </a:p>
          <a:p>
            <a:r>
              <a:rPr lang="en-US" altLang="ko-KR" sz="1100" dirty="0"/>
              <a:t>- console.log(a);</a:t>
            </a:r>
          </a:p>
          <a:p>
            <a:r>
              <a:rPr lang="en-US" altLang="ko-KR" sz="1100" dirty="0"/>
              <a:t>- console.log(‘x: ’, x, ‘y: ’, y, ‘z: ‘, z);</a:t>
            </a:r>
          </a:p>
          <a:p>
            <a:pPr marL="171450" indent="-171450">
              <a:buFontTx/>
              <a:buChar char="-"/>
            </a:pPr>
            <a:endParaRPr lang="en-US" altLang="ja-JP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 smtClean="0"/>
              <a:t>Array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100" dirty="0"/>
          </a:p>
          <a:p>
            <a:r>
              <a:rPr lang="en-US" altLang="ja-JP" sz="1100" dirty="0" smtClean="0"/>
              <a:t>-  </a:t>
            </a:r>
            <a:r>
              <a:rPr lang="en-US" altLang="ja-JP" sz="1100" dirty="0" err="1" smtClean="0"/>
              <a:t>const</a:t>
            </a:r>
            <a:r>
              <a:rPr lang="en-US" altLang="ja-JP" sz="1100" dirty="0" smtClean="0"/>
              <a:t> </a:t>
            </a:r>
            <a:r>
              <a:rPr lang="en-US" altLang="ja-JP" sz="1100" dirty="0" err="1" smtClean="0"/>
              <a:t>arr</a:t>
            </a:r>
            <a:r>
              <a:rPr lang="en-US" altLang="ja-JP" sz="1100" dirty="0" smtClean="0"/>
              <a:t> = [ ‘tom’, ‘jerry’, ‘snoopy’, ‘</a:t>
            </a:r>
            <a:r>
              <a:rPr lang="en-US" altLang="ja-JP" sz="1100" dirty="0" err="1" smtClean="0"/>
              <a:t>charlie</a:t>
            </a:r>
            <a:r>
              <a:rPr lang="en-US" altLang="ja-JP" sz="1100" dirty="0" smtClean="0"/>
              <a:t>’ ]</a:t>
            </a:r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r>
              <a:rPr lang="en-US" altLang="ko-KR" sz="1100" dirty="0" smtClean="0"/>
              <a:t>-  console.log( </a:t>
            </a:r>
            <a:r>
              <a:rPr lang="en-US" altLang="ko-KR" sz="1100" dirty="0" err="1" smtClean="0"/>
              <a:t>arr</a:t>
            </a:r>
            <a:r>
              <a:rPr lang="en-US" altLang="ko-KR" sz="1100" dirty="0" smtClean="0"/>
              <a:t>[0], </a:t>
            </a:r>
            <a:r>
              <a:rPr lang="en-US" altLang="ko-KR" sz="1100" dirty="0" err="1" smtClean="0"/>
              <a:t>arr</a:t>
            </a:r>
            <a:r>
              <a:rPr lang="en-US" altLang="ko-KR" sz="1100" dirty="0" smtClean="0"/>
              <a:t>[1] );</a:t>
            </a:r>
          </a:p>
          <a:p>
            <a:endParaRPr lang="en-US" altLang="ko-KR" sz="1100" dirty="0" smtClean="0"/>
          </a:p>
          <a:p>
            <a:pPr marL="171450" indent="-171450">
              <a:buFontTx/>
              <a:buChar char="-"/>
            </a:pPr>
            <a:r>
              <a:rPr lang="en-US" altLang="ko-KR" sz="1100" dirty="0" smtClean="0"/>
              <a:t>for ( a of </a:t>
            </a:r>
            <a:r>
              <a:rPr lang="en-US" altLang="ko-KR" sz="1100" dirty="0" err="1" smtClean="0"/>
              <a:t>arr</a:t>
            </a:r>
            <a:r>
              <a:rPr lang="en-US" altLang="ko-KR" sz="1100" dirty="0" smtClean="0"/>
              <a:t> ) {</a:t>
            </a:r>
          </a:p>
          <a:p>
            <a:r>
              <a:rPr lang="en-US" altLang="ko-KR" sz="1100" dirty="0" smtClean="0"/>
              <a:t>      console.log( a ); 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   alert(a);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 };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415145" y="300716"/>
            <a:ext cx="598995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Several Ways to Insert </a:t>
            </a:r>
            <a:r>
              <a:rPr lang="en-US" altLang="ko-KR" sz="14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javascript</a:t>
            </a:r>
            <a:r>
              <a:rPr lang="en-US" altLang="ko-KR" sz="14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in html document</a:t>
            </a:r>
          </a:p>
          <a:p>
            <a:endParaRPr lang="en-US" altLang="ko-KR" sz="14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1) Internal </a:t>
            </a:r>
            <a:r>
              <a:rPr lang="en-US" altLang="ko-KR" sz="11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javascript</a:t>
            </a:r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-  in head tag or in body tag</a:t>
            </a:r>
          </a:p>
          <a:p>
            <a:endParaRPr lang="en-US" altLang="ko-KR" sz="11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&lt;head&gt;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&lt;script&gt;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     let name = ‘Oh ChangHo’;</a:t>
            </a:r>
          </a:p>
          <a:p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    alert(“My name is “, name, “ !!!”);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&lt;/script&gt;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&lt;/head&gt;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or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&lt;body&gt;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&lt;script&gt;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     let name = ‘Oh ChangHo’;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      console.log(“My name is “, name, “ !!!”);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&lt;/script&gt;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&lt;/body&gt;   </a:t>
            </a:r>
          </a:p>
          <a:p>
            <a:endParaRPr lang="en-US" altLang="ko-KR" sz="11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11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2) External </a:t>
            </a:r>
            <a:r>
              <a:rPr lang="en-US" altLang="ko-KR" sz="11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javascript</a:t>
            </a:r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  <a:p>
            <a:endParaRPr lang="en-US" altLang="ko-KR" sz="1100" b="1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&lt;head&gt;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&lt;script </a:t>
            </a:r>
            <a:r>
              <a:rPr lang="en-US" altLang="ko-KR" sz="11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src</a:t>
            </a:r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=‘index.js’&gt;&lt;/script&gt;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&lt;/head&gt;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or 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&lt;body&gt;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      &lt;script </a:t>
            </a:r>
            <a:r>
              <a:rPr lang="en-US" altLang="ko-KR" sz="1100" dirty="0" err="1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src</a:t>
            </a:r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=‘index.js’&gt;&lt;/script&gt;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 &lt;/body&gt;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4425418" y="5605763"/>
            <a:ext cx="2984703" cy="7694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Index.js file  </a:t>
            </a:r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</a:t>
            </a:r>
            <a:endParaRPr lang="en-US" altLang="ko-KR" sz="1100" dirty="0" smtClean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  <a:p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</a:t>
            </a:r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let 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name = ‘Oh ChangHo’;</a:t>
            </a:r>
          </a:p>
          <a:p>
            <a:r>
              <a:rPr lang="en-US" altLang="ko-KR" sz="1100" dirty="0" smtClean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  alert(“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My name is “, name, “ !!!”);</a:t>
            </a:r>
            <a:endParaRPr lang="ko-KR" altLang="en-US" sz="1100" dirty="0"/>
          </a:p>
        </p:txBody>
      </p:sp>
      <p:sp>
        <p:nvSpPr>
          <p:cNvPr id="2" name="正方形/長方形 1"/>
          <p:cNvSpPr/>
          <p:nvPr/>
        </p:nvSpPr>
        <p:spPr>
          <a:xfrm>
            <a:off x="7782298" y="3891958"/>
            <a:ext cx="427181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 smtClean="0"/>
              <a:t>Javascript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日本語講座</a:t>
            </a:r>
            <a:endParaRPr lang="en-US" altLang="ko-KR" sz="1200" dirty="0" smtClean="0"/>
          </a:p>
          <a:p>
            <a:pPr marL="285750" indent="-285750">
              <a:buFontTx/>
              <a:buChar char="-"/>
            </a:pPr>
            <a:r>
              <a:rPr lang="ko-KR" altLang="en-US" sz="1200" dirty="0" smtClean="0">
                <a:hlinkClick r:id="rId2"/>
              </a:rPr>
              <a:t>https</a:t>
            </a:r>
            <a:r>
              <a:rPr lang="ko-KR" altLang="en-US" sz="1200" dirty="0">
                <a:hlinkClick r:id="rId2"/>
              </a:rPr>
              <a:t>://youtu.be/_</a:t>
            </a:r>
            <a:r>
              <a:rPr lang="ko-KR" altLang="en-US" sz="1200" dirty="0" smtClean="0">
                <a:hlinkClick r:id="rId2"/>
              </a:rPr>
              <a:t>ExoqS3s17Y?si=wVRLaJ6zV9-O8M6o</a:t>
            </a:r>
            <a:endParaRPr lang="en-US" altLang="ko-KR" sz="1200" dirty="0" smtClean="0"/>
          </a:p>
          <a:p>
            <a:pPr marL="285750" indent="-285750">
              <a:buFontTx/>
              <a:buChar char="-"/>
            </a:pPr>
            <a:endParaRPr lang="en-US" altLang="ko-KR" sz="1200" dirty="0" smtClean="0"/>
          </a:p>
          <a:p>
            <a:r>
              <a:rPr lang="en-US" altLang="ko-KR" sz="1200" dirty="0" err="1"/>
              <a:t>Javascript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한국어강좌</a:t>
            </a:r>
            <a:endParaRPr lang="en-US" altLang="ko-KR" sz="1200" dirty="0" smtClean="0"/>
          </a:p>
          <a:p>
            <a:pPr marL="171450" indent="-171450">
              <a:buFontTx/>
              <a:buChar char="-"/>
            </a:pPr>
            <a:r>
              <a:rPr lang="en-US" altLang="ko-KR" sz="1200" dirty="0" smtClean="0">
                <a:hlinkClick r:id="rId3"/>
              </a:rPr>
              <a:t>https</a:t>
            </a:r>
            <a:r>
              <a:rPr lang="en-US" altLang="ko-KR" sz="1200" dirty="0">
                <a:hlinkClick r:id="rId3"/>
              </a:rPr>
              <a:t>://</a:t>
            </a:r>
            <a:r>
              <a:rPr lang="en-US" altLang="ko-KR" sz="1200" dirty="0" smtClean="0">
                <a:hlinkClick r:id="rId3"/>
              </a:rPr>
              <a:t>youtu.be/P0FY8k916e0?si=S_RkL0h79LtDfvIj</a:t>
            </a:r>
            <a:endParaRPr lang="en-US" altLang="ko-KR" sz="1200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8641048" y="2301263"/>
            <a:ext cx="15421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Interesting </a:t>
            </a:r>
            <a:r>
              <a:rPr lang="en-US" altLang="ko-KR" sz="1200" dirty="0" smtClean="0"/>
              <a:t>samples</a:t>
            </a:r>
          </a:p>
          <a:p>
            <a:r>
              <a:rPr lang="en-US" altLang="ko-KR" sz="1200" dirty="0" smtClean="0"/>
              <a:t>- </a:t>
            </a:r>
            <a:r>
              <a:rPr lang="ko-KR" altLang="en-US" sz="1200" dirty="0" smtClean="0">
                <a:hlinkClick r:id="rId4"/>
              </a:rPr>
              <a:t>https</a:t>
            </a:r>
            <a:r>
              <a:rPr lang="ko-KR" altLang="en-US" sz="1200" dirty="0">
                <a:hlinkClick r:id="rId4"/>
              </a:rPr>
              <a:t>://p5js.org</a:t>
            </a:r>
            <a:endParaRPr lang="ko-KR" altLang="en-US" sz="1200" dirty="0"/>
          </a:p>
        </p:txBody>
      </p:sp>
      <p:sp>
        <p:nvSpPr>
          <p:cNvPr id="9" name="正方形/長方形 8"/>
          <p:cNvSpPr/>
          <p:nvPr/>
        </p:nvSpPr>
        <p:spPr>
          <a:xfrm>
            <a:off x="9191616" y="1172233"/>
            <a:ext cx="1710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prstClr val="black"/>
                </a:solidFill>
              </a:rPr>
              <a:t>u</a:t>
            </a:r>
            <a:r>
              <a:rPr lang="en-US" altLang="ko-KR" sz="1400" dirty="0" smtClean="0">
                <a:solidFill>
                  <a:prstClr val="black"/>
                </a:solidFill>
              </a:rPr>
              <a:t>sing Node JS </a:t>
            </a:r>
            <a:endParaRPr lang="en-US" altLang="ko-KR" sz="1100" dirty="0" smtClean="0"/>
          </a:p>
        </p:txBody>
      </p:sp>
    </p:spTree>
    <p:extLst>
      <p:ext uri="{BB962C8B-B14F-4D97-AF65-F5344CB8AC3E}">
        <p14:creationId xmlns:p14="http://schemas.microsoft.com/office/powerpoint/2010/main" val="105187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784202" y="819919"/>
            <a:ext cx="315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DOM (Document Object Model)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02" y="1464448"/>
            <a:ext cx="4629150" cy="2533650"/>
          </a:xfrm>
          <a:prstGeom prst="rect">
            <a:avLst/>
          </a:prstGeom>
        </p:spPr>
      </p:pic>
      <p:cxnSp>
        <p:nvCxnSpPr>
          <p:cNvPr id="22" name="直線矢印コネクタ 21"/>
          <p:cNvCxnSpPr/>
          <p:nvPr/>
        </p:nvCxnSpPr>
        <p:spPr>
          <a:xfrm flipV="1">
            <a:off x="5052437" y="2836297"/>
            <a:ext cx="210131" cy="45392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/>
          <p:cNvSpPr/>
          <p:nvPr/>
        </p:nvSpPr>
        <p:spPr>
          <a:xfrm>
            <a:off x="5006728" y="2600468"/>
            <a:ext cx="5116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node</a:t>
            </a:r>
            <a:endParaRPr lang="ko-KR" altLang="en-US" sz="1100" dirty="0"/>
          </a:p>
        </p:txBody>
      </p:sp>
      <p:sp>
        <p:nvSpPr>
          <p:cNvPr id="8" name="正方形/長方形 7"/>
          <p:cNvSpPr/>
          <p:nvPr/>
        </p:nvSpPr>
        <p:spPr>
          <a:xfrm>
            <a:off x="6355770" y="566729"/>
            <a:ext cx="2303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/>
              <a:t>F12 : </a:t>
            </a:r>
            <a:r>
              <a:rPr lang="en-US" altLang="ko-KR" sz="1100" dirty="0"/>
              <a:t> developer </a:t>
            </a:r>
            <a:r>
              <a:rPr lang="en-US" altLang="ko-KR" sz="1100" dirty="0" smtClean="0"/>
              <a:t>tool </a:t>
            </a:r>
            <a:r>
              <a:rPr lang="en-US" altLang="ko-KR" sz="1100" dirty="0" smtClean="0">
                <a:sym typeface="Wingdings" panose="05000000000000000000" pitchFamily="2" charset="2"/>
              </a:rPr>
              <a:t> console</a:t>
            </a:r>
            <a:r>
              <a:rPr lang="en-US" altLang="ko-KR" sz="1100" dirty="0" smtClean="0"/>
              <a:t> </a:t>
            </a:r>
            <a:endParaRPr lang="ko-KR" altLang="en-US" sz="1100" dirty="0"/>
          </a:p>
        </p:txBody>
      </p:sp>
      <p:sp>
        <p:nvSpPr>
          <p:cNvPr id="27" name="正方形/長方形 26"/>
          <p:cNvSpPr/>
          <p:nvPr/>
        </p:nvSpPr>
        <p:spPr>
          <a:xfrm>
            <a:off x="6355770" y="1042509"/>
            <a:ext cx="3422732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/>
              <a:t>document</a:t>
            </a:r>
            <a:r>
              <a:rPr lang="en-US" altLang="ko-KR" sz="1100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document.body</a:t>
            </a:r>
            <a:r>
              <a:rPr lang="en-US" altLang="ko-KR" sz="1100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document.body.style.backgroundColor</a:t>
            </a:r>
            <a:r>
              <a:rPr lang="en-US" altLang="ko-KR" sz="1100" dirty="0" smtClean="0"/>
              <a:t> </a:t>
            </a:r>
            <a:r>
              <a:rPr lang="en-US" altLang="ko-KR" sz="1100" dirty="0"/>
              <a:t>= 'yellow</a:t>
            </a:r>
            <a:r>
              <a:rPr lang="en-US" altLang="ko-KR" sz="1100" dirty="0" smtClean="0"/>
              <a:t>';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document.getElementById</a:t>
            </a:r>
            <a:r>
              <a:rPr lang="en-US" altLang="ko-KR" sz="1100" dirty="0"/>
              <a:t>('first').</a:t>
            </a:r>
            <a:r>
              <a:rPr lang="en-US" altLang="ko-KR" sz="1100" dirty="0" err="1"/>
              <a:t>style.color</a:t>
            </a:r>
            <a:r>
              <a:rPr lang="en-US" altLang="ko-KR" sz="1100" dirty="0"/>
              <a:t> = 'red</a:t>
            </a:r>
            <a:r>
              <a:rPr lang="en-US" altLang="ko-KR" sz="1100" dirty="0" smtClean="0"/>
              <a:t>';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document.getElementsByTagName</a:t>
            </a:r>
            <a:r>
              <a:rPr lang="en-US" altLang="ko-KR" sz="1100" dirty="0"/>
              <a:t>('p</a:t>
            </a:r>
            <a:r>
              <a:rPr lang="en-US" altLang="ko-KR" sz="1100" dirty="0" smtClean="0"/>
              <a:t>');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document.querySelectorAll</a:t>
            </a:r>
            <a:r>
              <a:rPr lang="en-US" altLang="ko-KR" sz="1100" dirty="0"/>
              <a:t>('.link</a:t>
            </a:r>
            <a:r>
              <a:rPr lang="en-US" altLang="ko-KR" sz="1100" dirty="0" smtClean="0"/>
              <a:t>');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const</a:t>
            </a:r>
            <a:r>
              <a:rPr lang="en-US" altLang="ko-KR" sz="1100" dirty="0" smtClean="0"/>
              <a:t> </a:t>
            </a:r>
            <a:r>
              <a:rPr lang="en-US" altLang="ko-KR" sz="1100" dirty="0" err="1" smtClean="0"/>
              <a:t>linkList</a:t>
            </a:r>
            <a:r>
              <a:rPr lang="en-US" altLang="ko-KR" sz="1100" dirty="0" smtClean="0"/>
              <a:t> </a:t>
            </a:r>
            <a:r>
              <a:rPr lang="en-US" altLang="ko-KR" sz="1100" dirty="0"/>
              <a:t>= </a:t>
            </a:r>
            <a:r>
              <a:rPr lang="en-US" altLang="ko-KR" sz="1100" dirty="0" err="1"/>
              <a:t>document.querySelectorAll</a:t>
            </a:r>
            <a:r>
              <a:rPr lang="en-US" altLang="ko-KR" sz="1100" dirty="0" smtClean="0"/>
              <a:t>(‘.link’);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/>
              <a:t>for </a:t>
            </a:r>
            <a:r>
              <a:rPr lang="en-US" altLang="ko-KR" sz="1100" dirty="0"/>
              <a:t>( a of </a:t>
            </a:r>
            <a:r>
              <a:rPr lang="en-US" altLang="ko-KR" sz="1100" dirty="0" err="1"/>
              <a:t>linkList</a:t>
            </a:r>
            <a:r>
              <a:rPr lang="en-US" altLang="ko-KR" sz="1100" dirty="0"/>
              <a:t> ) </a:t>
            </a:r>
            <a:r>
              <a:rPr lang="en-US" altLang="ko-KR" sz="1100" dirty="0" smtClean="0"/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/>
              <a:t>        </a:t>
            </a:r>
            <a:r>
              <a:rPr lang="en-US" altLang="ko-KR" sz="1100" dirty="0" err="1"/>
              <a:t>a.style.fontSize</a:t>
            </a:r>
            <a:r>
              <a:rPr lang="en-US" altLang="ko-KR" sz="1100" dirty="0"/>
              <a:t> = '20px</a:t>
            </a:r>
            <a:r>
              <a:rPr lang="en-US" altLang="ko-KR" sz="1100" dirty="0" smtClean="0"/>
              <a:t>';</a:t>
            </a:r>
          </a:p>
          <a:p>
            <a:pPr>
              <a:lnSpc>
                <a:spcPct val="150000"/>
              </a:lnSpc>
            </a:pPr>
            <a:r>
              <a:rPr lang="en-US" altLang="ko-KR" sz="1100" dirty="0" smtClean="0"/>
              <a:t>        </a:t>
            </a:r>
            <a:r>
              <a:rPr lang="en-US" altLang="ko-KR" sz="1100" dirty="0" err="1"/>
              <a:t>a.style.color</a:t>
            </a:r>
            <a:r>
              <a:rPr lang="en-US" altLang="ko-KR" sz="1100" dirty="0"/>
              <a:t> =  'red';    </a:t>
            </a:r>
            <a:endParaRPr lang="en-US" altLang="ko-KR" sz="1100" dirty="0" smtClean="0"/>
          </a:p>
          <a:p>
            <a:pPr>
              <a:lnSpc>
                <a:spcPct val="150000"/>
              </a:lnSpc>
            </a:pPr>
            <a:r>
              <a:rPr lang="en-US" altLang="ko-KR" sz="1100" dirty="0" smtClean="0"/>
              <a:t>};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document.querySelectorAll</a:t>
            </a:r>
            <a:r>
              <a:rPr lang="en-US" altLang="ko-KR" sz="1100" dirty="0"/>
              <a:t>('#first</a:t>
            </a:r>
            <a:r>
              <a:rPr lang="en-US" altLang="ko-KR" sz="1100" dirty="0" smtClean="0"/>
              <a:t>');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document.querySelector</a:t>
            </a:r>
            <a:r>
              <a:rPr lang="en-US" altLang="ko-KR" sz="1100" dirty="0"/>
              <a:t>('#first</a:t>
            </a:r>
            <a:r>
              <a:rPr lang="en-US" altLang="ko-KR" sz="1100" dirty="0" smtClean="0"/>
              <a:t>');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document.querySelector</a:t>
            </a:r>
            <a:r>
              <a:rPr lang="en-US" altLang="ko-KR" sz="1100" dirty="0"/>
              <a:t>('.link</a:t>
            </a:r>
            <a:r>
              <a:rPr lang="en-US" altLang="ko-KR" sz="1100" dirty="0" smtClean="0"/>
              <a:t>');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document.querySelector</a:t>
            </a:r>
            <a:r>
              <a:rPr lang="en-US" altLang="ko-KR" sz="1100" dirty="0"/>
              <a:t>('h3</a:t>
            </a:r>
            <a:r>
              <a:rPr lang="en-US" altLang="ko-KR" sz="1100" dirty="0" smtClean="0"/>
              <a:t>');</a:t>
            </a:r>
          </a:p>
          <a:p>
            <a:pPr>
              <a:lnSpc>
                <a:spcPct val="150000"/>
              </a:lnSpc>
            </a:pPr>
            <a:r>
              <a:rPr lang="en-US" altLang="ko-KR" sz="1100" dirty="0" err="1" smtClean="0"/>
              <a:t>document.querySelector</a:t>
            </a:r>
            <a:r>
              <a:rPr lang="en-US" altLang="ko-KR" sz="1100" dirty="0"/>
              <a:t>('h3:nth-of-type(2)');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1274787" y="5000222"/>
            <a:ext cx="430432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DOM </a:t>
            </a:r>
            <a:r>
              <a:rPr lang="ko-KR" altLang="en-US" sz="1200" dirty="0" smtClean="0"/>
              <a:t>日本語講座</a:t>
            </a:r>
            <a:endParaRPr lang="en-US" altLang="ko-KR" sz="1200" dirty="0" smtClean="0"/>
          </a:p>
          <a:p>
            <a:pPr marL="285750" indent="-285750">
              <a:buFontTx/>
              <a:buChar char="-"/>
            </a:pPr>
            <a:r>
              <a:rPr lang="en-US" altLang="ko-KR" sz="1200" dirty="0">
                <a:hlinkClick r:id="rId3"/>
              </a:rPr>
              <a:t>https://</a:t>
            </a:r>
            <a:r>
              <a:rPr lang="en-US" altLang="ko-KR" sz="1200" dirty="0" smtClean="0">
                <a:hlinkClick r:id="rId3"/>
              </a:rPr>
              <a:t>youtu.be/Axy55VP3DSY?si=xjf5uNtLj3_bFmsC</a:t>
            </a:r>
            <a:endParaRPr lang="en-US" altLang="ko-KR" sz="1200" dirty="0" smtClean="0"/>
          </a:p>
          <a:p>
            <a:pPr marL="285750" indent="-285750">
              <a:buFontTx/>
              <a:buChar char="-"/>
            </a:pPr>
            <a:endParaRPr lang="en-US" altLang="ko-KR" sz="1200" dirty="0" smtClean="0"/>
          </a:p>
          <a:p>
            <a:r>
              <a:rPr lang="en-US" altLang="ko-KR" sz="1200" dirty="0" smtClean="0"/>
              <a:t>DOM </a:t>
            </a:r>
            <a:r>
              <a:rPr lang="ko-KR" altLang="en-US" sz="1200" dirty="0" smtClean="0"/>
              <a:t>한국어강좌</a:t>
            </a:r>
            <a:endParaRPr lang="en-US" altLang="ko-KR" sz="1200" dirty="0" smtClean="0"/>
          </a:p>
          <a:p>
            <a:pPr marL="171450" indent="-171450">
              <a:buFontTx/>
              <a:buChar char="-"/>
            </a:pPr>
            <a:r>
              <a:rPr lang="en-US" altLang="ko-KR" sz="1200" dirty="0">
                <a:hlinkClick r:id="rId4"/>
              </a:rPr>
              <a:t>https://</a:t>
            </a:r>
            <a:r>
              <a:rPr lang="en-US" altLang="ko-KR" sz="1200" dirty="0" smtClean="0">
                <a:hlinkClick r:id="rId4"/>
              </a:rPr>
              <a:t>youtu.be/uK6uExrg7Ww?si=R5wAo3Fod9U8LAvQ</a:t>
            </a:r>
            <a:endParaRPr lang="en-US" altLang="ko-KR" sz="1200" dirty="0" smtClean="0"/>
          </a:p>
        </p:txBody>
      </p:sp>
    </p:spTree>
    <p:extLst>
      <p:ext uri="{BB962C8B-B14F-4D97-AF65-F5344CB8AC3E}">
        <p14:creationId xmlns:p14="http://schemas.microsoft.com/office/powerpoint/2010/main" val="241119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801</Words>
  <Application>Microsoft Office PowerPoint</Application>
  <PresentationFormat>ワイド画面</PresentationFormat>
  <Paragraphs>296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0" baseType="lpstr">
      <vt:lpstr>Arial Unicode MS</vt:lpstr>
      <vt:lpstr>LG Smart UI Regular</vt:lpstr>
      <vt:lpstr>ＭＳ Ｐゴシック</vt:lpstr>
      <vt:lpstr>맑은 고딕</vt:lpstr>
      <vt:lpstr>Arial</vt:lpstr>
      <vt:lpstr>Ebrima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LG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ChangHo Oh/President/Japan R&amp;D Lab(changho.oh@lge.com)</dc:creator>
  <cp:lastModifiedBy>ChangHo Oh/President/Japan R&amp;D Lab(changho.oh@lge.com)</cp:lastModifiedBy>
  <cp:revision>66</cp:revision>
  <dcterms:created xsi:type="dcterms:W3CDTF">2024-05-28T00:02:05Z</dcterms:created>
  <dcterms:modified xsi:type="dcterms:W3CDTF">2024-09-04T00:00:52Z</dcterms:modified>
</cp:coreProperties>
</file>